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4-2.svg" ContentType="image/svg+xml"/>
  <Override PartName="/ppt/media/image-4-4.svg" ContentType="image/svg+xml"/>
  <Override PartName="/ppt/media/image-4-6.svg" ContentType="image/svg+xml"/>
  <Override PartName="/ppt/media/image-4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Fraunces"/>
      <p:regular r:id="rId17"/>
    </p:embeddedFont>
    <p:embeddedFont>
      <p:font typeface="Fraunces"/>
      <p:regular r:id="rId18"/>
    </p:embeddedFont>
    <p:embeddedFont>
      <p:font typeface="Fraunces"/>
      <p:regular r:id="rId19"/>
    </p:embeddedFont>
    <p:embeddedFont>
      <p:font typeface="Fraunces"/>
      <p:regular r:id="rId20"/>
    </p:embeddedFont>
    <p:embeddedFont>
      <p:font typeface="DM Sans"/>
      <p:regular r:id="rId21"/>
    </p:embeddedFont>
    <p:embeddedFont>
      <p:font typeface="DM Sans"/>
      <p:regular r:id="rId22"/>
    </p:embeddedFont>
    <p:embeddedFont>
      <p:font typeface="DM Sans"/>
      <p:regular r:id="rId23"/>
    </p:embeddedFont>
    <p:embeddedFont>
      <p:font typeface="DM Sans"/>
      <p:regular r:id="rId24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Relationship Id="rId22" Type="http://schemas.openxmlformats.org/officeDocument/2006/relationships/font" Target="fonts/font6.fntdata"/><Relationship Id="rId23" Type="http://schemas.openxmlformats.org/officeDocument/2006/relationships/font" Target="fonts/font7.fntdata"/><Relationship Id="rId24" Type="http://schemas.openxmlformats.org/officeDocument/2006/relationships/font" Target="fonts/font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7FA"/>
          </a:solidFill>
          <a:ln/>
        </p:spPr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5.xml"/><Relationship Id="rId10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8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830363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AgentLevy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3925119" y="2403946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open-source reference protocol for verifiable agent commerce.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2741935"/>
            <a:ext cx="4722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Consensus EasyA · May 5–7, 2026 · A working demo, with code.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079924"/>
            <a:ext cx="2475458" cy="233214"/>
          </a:xfrm>
          <a:prstGeom prst="roundRect">
            <a:avLst>
              <a:gd name="adj" fmla="val 17872"/>
            </a:avLst>
          </a:prstGeom>
          <a:solidFill>
            <a:srgbClr val="D7DCF4"/>
          </a:solidFill>
          <a:ln/>
        </p:spPr>
      </p:sp>
      <p:sp>
        <p:nvSpPr>
          <p:cNvPr id="7" name="Text 4"/>
          <p:cNvSpPr/>
          <p:nvPr/>
        </p:nvSpPr>
        <p:spPr>
          <a:xfrm>
            <a:off x="3999533" y="3117131"/>
            <a:ext cx="2326630" cy="1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5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GITHUB.COM/MAURATHAT/AGENTLEVY-BASE-UOR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018282"/>
            <a:ext cx="4722763" cy="775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Gap: Identity ≠ Work Integrity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111154" y="2118940"/>
            <a:ext cx="4536728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"Agent commerce assumes good faith. Production cannot."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3925119" y="1979414"/>
            <a:ext cx="14288" cy="477515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6" name="Text 3"/>
          <p:cNvSpPr/>
          <p:nvPr/>
        </p:nvSpPr>
        <p:spPr>
          <a:xfrm>
            <a:off x="3925119" y="2596455"/>
            <a:ext cx="4722763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Today's stack tells you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you're transacting with — DID registries, agent-platform credentials, same-vendor logs.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None of it tells you what was actually done.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audit collapses the moment a vendor disappears, a registry de-lists an agent, or a counterparty disputes the log.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925119" y="3529831"/>
            <a:ext cx="4722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registered, KYC'd agent can still lie about what it computed — and you have no way to re-check. A settlement primitive for agent commerce must make the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work itself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cryptographically verifiable, with no trusted third party at the verify step.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48742"/>
            <a:ext cx="5182419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Why We Built It — vs. What Exists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284312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Yes, things exist in this space. None of them solve the work-integrity problem.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622301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F6F7FA"/>
          </a:solidFill>
          <a:ln w="14288">
            <a:solidFill>
              <a:srgbClr val="CAC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81831" y="1622301"/>
            <a:ext cx="57150" cy="1140172"/>
          </a:xfrm>
          <a:prstGeom prst="roundRect">
            <a:avLst>
              <a:gd name="adj" fmla="val 91163"/>
            </a:avLst>
          </a:prstGeom>
          <a:solidFill>
            <a:srgbClr val="283A8C"/>
          </a:solidFill>
          <a:ln/>
        </p:spPr>
      </p:sp>
      <p:sp>
        <p:nvSpPr>
          <p:cNvPr id="6" name="Text 4"/>
          <p:cNvSpPr/>
          <p:nvPr/>
        </p:nvSpPr>
        <p:spPr>
          <a:xfrm>
            <a:off x="677242" y="1760562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Coinbase x402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77242" y="2028825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HTTP-layer payment rail. Says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money moved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AgentLevy says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work matched the spec, here's the math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Composable, not competitive.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33987" y="1622301"/>
            <a:ext cx="4013895" cy="1140172"/>
          </a:xfrm>
          <a:prstGeom prst="roundRect">
            <a:avLst>
              <a:gd name="adj" fmla="val 6015"/>
            </a:avLst>
          </a:prstGeom>
          <a:solidFill>
            <a:srgbClr val="F6F7FA"/>
          </a:solidFill>
          <a:ln w="14288">
            <a:solidFill>
              <a:srgbClr val="CACC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9699" y="1622301"/>
            <a:ext cx="57150" cy="1140172"/>
          </a:xfrm>
          <a:prstGeom prst="roundRect">
            <a:avLst>
              <a:gd name="adj" fmla="val 91163"/>
            </a:avLst>
          </a:prstGeom>
          <a:solidFill>
            <a:srgbClr val="283A8C"/>
          </a:solidFill>
          <a:ln/>
        </p:spPr>
      </p:sp>
      <p:sp>
        <p:nvSpPr>
          <p:cNvPr id="10" name="Text 8"/>
          <p:cNvSpPr/>
          <p:nvPr/>
        </p:nvSpPr>
        <p:spPr>
          <a:xfrm>
            <a:off x="4815111" y="1760562"/>
            <a:ext cx="1821433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Virtuals Protocol (ACP)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15111" y="2028825"/>
            <a:ext cx="3694509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Platform-bound to Base + Virtuals tokens. A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marketplace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primitive, not a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settlement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primitive. AgentLevy is chain-neutral, token-free, audit-first.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96119" y="2886447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6F7FA"/>
          </a:solidFill>
          <a:ln w="14288">
            <a:solidFill>
              <a:srgbClr val="CACC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1831" y="2886447"/>
            <a:ext cx="57150" cy="941710"/>
          </a:xfrm>
          <a:prstGeom prst="roundRect">
            <a:avLst>
              <a:gd name="adj" fmla="val 91163"/>
            </a:avLst>
          </a:prstGeom>
          <a:solidFill>
            <a:srgbClr val="283A8C"/>
          </a:solidFill>
          <a:ln/>
        </p:spPr>
      </p:sp>
      <p:sp>
        <p:nvSpPr>
          <p:cNvPr id="14" name="Text 12"/>
          <p:cNvSpPr/>
          <p:nvPr/>
        </p:nvSpPr>
        <p:spPr>
          <a:xfrm>
            <a:off x="677242" y="3024708"/>
            <a:ext cx="162922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DID / KYC Registries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77242" y="3292971"/>
            <a:ext cx="3694509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Tell you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who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agent is. Silent on </a:t>
            </a:r>
            <a:pPr algn="l" indent="0" marL="0">
              <a:lnSpc>
                <a:spcPts val="155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agent actually did.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633987" y="2886447"/>
            <a:ext cx="4013895" cy="941710"/>
          </a:xfrm>
          <a:prstGeom prst="roundRect">
            <a:avLst>
              <a:gd name="adj" fmla="val 7282"/>
            </a:avLst>
          </a:prstGeom>
          <a:solidFill>
            <a:srgbClr val="F6F7FA"/>
          </a:solidFill>
          <a:ln w="14288">
            <a:solidFill>
              <a:srgbClr val="CACC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9699" y="2886447"/>
            <a:ext cx="57150" cy="941710"/>
          </a:xfrm>
          <a:prstGeom prst="roundRect">
            <a:avLst>
              <a:gd name="adj" fmla="val 91163"/>
            </a:avLst>
          </a:prstGeom>
          <a:solidFill>
            <a:srgbClr val="283A8C"/>
          </a:solidFill>
          <a:ln/>
        </p:spPr>
      </p:sp>
      <p:sp>
        <p:nvSpPr>
          <p:cNvPr id="18" name="Text 16"/>
          <p:cNvSpPr/>
          <p:nvPr/>
        </p:nvSpPr>
        <p:spPr>
          <a:xfrm>
            <a:off x="4815111" y="3024708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Web3 Oracles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15111" y="3292971"/>
            <a:ext cx="3694509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Trusted-oracle model. AgentLevy needs no oracle — the cert chain </a:t>
            </a:r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the oracle.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96119" y="3967683"/>
            <a:ext cx="8151763" cy="527000"/>
          </a:xfrm>
          <a:prstGeom prst="roundRect">
            <a:avLst>
              <a:gd name="adj" fmla="val 9886"/>
            </a:avLst>
          </a:prstGeom>
          <a:solidFill>
            <a:srgbClr val="B6D6FC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4152230"/>
            <a:ext cx="155004" cy="12397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99071" y="4122613"/>
            <a:ext cx="7624837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pitch line we earn: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"They tell you who. We tell you what — verifiably, forever."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3399"/>
            <a:ext cx="310113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What We Built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38969"/>
            <a:ext cx="8151763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AgentLevy is a protocol-layer demo where two AI agents negotiate and execute a KYC compliance task, sign each step with content-addressed derivation certificates, settle on Base via a hashlock USDC escrow, and anchor every cert to Hedera Consensus Service — producing an audit trail verifiable from public keys alone, across two independent ledgers, with no trusted intermediary.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773882"/>
            <a:ext cx="4013895" cy="1423467"/>
          </a:xfrm>
          <a:prstGeom prst="roundRect">
            <a:avLst>
              <a:gd name="adj" fmla="val 3660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4855" y="19026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83A8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7174" y="2004864"/>
            <a:ext cx="167432" cy="1674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24855" y="2398663"/>
            <a:ext cx="2058591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TaskSpec + DerivationCert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24855" y="2666926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Dual-signed work contract + delivery (UOR-Passport content-addressed).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128 tests passing.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4633987" y="1773882"/>
            <a:ext cx="4013895" cy="1423467"/>
          </a:xfrm>
          <a:prstGeom prst="roundRect">
            <a:avLst>
              <a:gd name="adj" fmla="val 3660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762723" y="190261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83A8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65043" y="2004864"/>
            <a:ext cx="167432" cy="1674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62723" y="2398663"/>
            <a:ext cx="197115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Hashlock Escrow on Base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762723" y="2666926"/>
            <a:ext cx="3756422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Conditional USDC release on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sha256(cert) == hashlock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Deployed Sepolia.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496119" y="3321323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4855" y="345005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83A8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174" y="3552304"/>
            <a:ext cx="167432" cy="1674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4855" y="3946103"/>
            <a:ext cx="1845394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AWS Lambda + Bedrock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24855" y="4214366"/>
            <a:ext cx="3756422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Sanctions screening agent — stateless, key-free, scales to zero.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Live.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633987" y="3321323"/>
            <a:ext cx="4013895" cy="1418704"/>
          </a:xfrm>
          <a:prstGeom prst="roundRect">
            <a:avLst>
              <a:gd name="adj" fmla="val 3672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4762723" y="3450059"/>
            <a:ext cx="372070" cy="372070"/>
          </a:xfrm>
          <a:prstGeom prst="roundRect">
            <a:avLst>
              <a:gd name="adj" fmla="val 15358477"/>
            </a:avLst>
          </a:prstGeom>
          <a:solidFill>
            <a:srgbClr val="283A8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865043" y="3552304"/>
            <a:ext cx="167432" cy="16743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62723" y="3946103"/>
            <a:ext cx="156053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Hedera HCS Anchor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762723" y="4214366"/>
            <a:ext cx="3756422" cy="203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Tamper-evident cert timestamping.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✅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Live topic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0.0.8856047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5875" y="287387"/>
            <a:ext cx="3958828" cy="222684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85875" y="2598167"/>
            <a:ext cx="5908700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50"/>
              </a:lnSpc>
              <a:buNone/>
            </a:pPr>
            <a:r>
              <a:rPr lang="en-US" sz="16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KYC Demo: Three Agents, Five Artifacts, Two Chains</a:t>
            </a:r>
            <a:endParaRPr lang="en-US" sz="16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875" y="2942555"/>
            <a:ext cx="6572250" cy="173905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92837" y="3530564"/>
            <a:ext cx="993458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Buyer Escrows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1792837" y="3936920"/>
            <a:ext cx="993458" cy="35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Buyer Agent escrows USDC on Base</a:t>
            </a:r>
            <a:endParaRPr lang="en-US" sz="850" dirty="0"/>
          </a:p>
        </p:txBody>
      </p:sp>
      <p:sp>
        <p:nvSpPr>
          <p:cNvPr id="7" name="Text 3"/>
          <p:cNvSpPr/>
          <p:nvPr/>
        </p:nvSpPr>
        <p:spPr>
          <a:xfrm>
            <a:off x="2931267" y="3330450"/>
            <a:ext cx="9934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Beneficial Extract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2931267" y="3736806"/>
            <a:ext cx="993457" cy="35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Agent extracts owners via Claude Haiku</a:t>
            </a:r>
            <a:endParaRPr lang="en-US" sz="850" dirty="0"/>
          </a:p>
        </p:txBody>
      </p:sp>
      <p:sp>
        <p:nvSpPr>
          <p:cNvPr id="9" name="Text 5"/>
          <p:cNvSpPr/>
          <p:nvPr/>
        </p:nvSpPr>
        <p:spPr>
          <a:xfrm>
            <a:off x="4069696" y="3530564"/>
            <a:ext cx="9934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Sanctions Screening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069696" y="3936920"/>
            <a:ext cx="993457" cy="35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Sanctions Agent screens using AWS Lambda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5208126" y="3330450"/>
            <a:ext cx="9934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Cert Anchoring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208126" y="3736806"/>
            <a:ext cx="993457" cy="35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DerivationCerts anchored to Hedera HCS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6352880" y="3530564"/>
            <a:ext cx="993457" cy="355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Release on Match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352880" y="3936920"/>
            <a:ext cx="993457" cy="3566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Escrow releases when cert hash matches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285875" y="4744566"/>
            <a:ext cx="6572250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5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No oracles. No off-chain settlement. No trust in any agent or vendor. The audit itself becomes a signed cert — recursive verifiability. </a:t>
            </a:r>
            <a:pPr algn="l" indent="0" marL="0">
              <a:lnSpc>
                <a:spcPts val="85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Math.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303609"/>
            <a:ext cx="4419154" cy="24857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03759" y="2893963"/>
            <a:ext cx="2856161" cy="290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Cert Chain Anatomy</a:t>
            </a:r>
            <a:endParaRPr lang="en-US" sz="1800" dirty="0"/>
          </a:p>
        </p:txBody>
      </p:sp>
      <p:sp>
        <p:nvSpPr>
          <p:cNvPr id="4" name="Text 1"/>
          <p:cNvSpPr/>
          <p:nvPr/>
        </p:nvSpPr>
        <p:spPr>
          <a:xfrm>
            <a:off x="903759" y="3289325"/>
            <a:ext cx="7336408" cy="265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artifact has a content address — </a:t>
            </a:r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sha256:&lt;64 hex&gt;</a:t>
            </a:r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derived from JCS-RFC8785 + NFC canonical bytes. Verified byte-identical to UOR Foundation's reference implementation.</a:t>
            </a:r>
            <a:endParaRPr lang="en-US" sz="700" dirty="0"/>
          </a:p>
        </p:txBody>
      </p:sp>
      <p:sp>
        <p:nvSpPr>
          <p:cNvPr id="5" name="Shape 2"/>
          <p:cNvSpPr/>
          <p:nvPr/>
        </p:nvSpPr>
        <p:spPr>
          <a:xfrm>
            <a:off x="836786" y="3632969"/>
            <a:ext cx="3688631" cy="1206847"/>
          </a:xfrm>
          <a:prstGeom prst="roundRect">
            <a:avLst>
              <a:gd name="adj" fmla="val 5550"/>
            </a:avLst>
          </a:prstGeom>
          <a:solidFill>
            <a:srgbClr val="283A8C"/>
          </a:solidFill>
          <a:ln/>
        </p:spPr>
      </p:sp>
      <p:sp>
        <p:nvSpPr>
          <p:cNvPr id="6" name="Text 3"/>
          <p:cNvSpPr/>
          <p:nvPr/>
        </p:nvSpPr>
        <p:spPr>
          <a:xfrm>
            <a:off x="929804" y="3702695"/>
            <a:ext cx="1658987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Why UOR-Passport Format?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929804" y="3917752"/>
            <a:ext cx="3502596" cy="390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address is publicly resolvable by any UOR-aware tool — no translation, no vendor-specific format. The address outlives the vendor, the agent, and any single chain.</a:t>
            </a:r>
            <a:endParaRPr lang="en-US" sz="700" dirty="0"/>
          </a:p>
        </p:txBody>
      </p:sp>
      <p:sp>
        <p:nvSpPr>
          <p:cNvPr id="8" name="Text 5"/>
          <p:cNvSpPr/>
          <p:nvPr/>
        </p:nvSpPr>
        <p:spPr>
          <a:xfrm>
            <a:off x="929804" y="4371156"/>
            <a:ext cx="3502596" cy="444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PRISM ring algebra (Q(31), 256-bit, MIT-licensed)</a:t>
            </a:r>
            <a:endParaRPr lang="en-US" sz="70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JCS-RFC8785 + NFC canonicalization</a:t>
            </a:r>
            <a:endParaRPr lang="en-US" sz="70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Live cross-validated vs. </a:t>
            </a:r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FFFFFF"/>
                </a:solidFill>
                <a:highlight>
                  <a:srgbClr val="35479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mcp.uor.foundation</a:t>
            </a:r>
            <a:endParaRPr lang="en-US" sz="700" dirty="0"/>
          </a:p>
        </p:txBody>
      </p:sp>
      <p:sp>
        <p:nvSpPr>
          <p:cNvPr id="9" name="Text 6"/>
          <p:cNvSpPr/>
          <p:nvPr/>
        </p:nvSpPr>
        <p:spPr>
          <a:xfrm>
            <a:off x="4690170" y="3702695"/>
            <a:ext cx="1908051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Every Arrow Is a Hash Reference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690170" y="3917752"/>
            <a:ext cx="3554685" cy="2604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Tampering with any cert breaks the chain at the address-resolution step — not just the signature step. That's the audit-trail invariant.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4690170" y="4240932"/>
            <a:ext cx="3554685" cy="4394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TaskSpec → signed by buyer + seller</a:t>
            </a:r>
            <a:endParaRPr lang="en-US" sz="70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DerivationCert (compliance) → references sanctions cert by content address</a:t>
            </a:r>
            <a:endParaRPr lang="en-US" sz="700" dirty="0"/>
          </a:p>
          <a:p>
            <a:pPr algn="l" marL="342900" indent="-342900">
              <a:lnSpc>
                <a:spcPts val="1000"/>
              </a:lnSpc>
              <a:buSzPct val="100000"/>
              <a:buChar char="•"/>
            </a:pPr>
            <a:r>
              <a:rPr lang="en-US" sz="70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DerivationCert (sanctions) → output_address → SanctionsResult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46547"/>
            <a:ext cx="3648001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Two-Ledger Settlement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582117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settles. Hedera anchors. AWS Lambda runs the agent. KIRO IDE audits. Independent witnesses, independent runtimes.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920106"/>
            <a:ext cx="422746" cy="4227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73869" y="1920106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Base Sepolia — Settlement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73869" y="2382217"/>
            <a:ext cx="1343918" cy="1403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HashlockEscrow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~100 LoC Solidity.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require(sha256(certPayload) == hashlock)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releases USDC. No oracles. No off-chain settlement.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792" y="1920106"/>
            <a:ext cx="422746" cy="4227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150543" y="1920106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Hedera Testnet — Audit Anchor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150543" y="2382217"/>
            <a:ext cx="1343918" cy="13939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cert's content address submitted to HCS topic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0.0.8856047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authoritative consensus timestamp + sequence number as independent witness.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465" y="1920106"/>
            <a:ext cx="422746" cy="4227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227216" y="1920106"/>
            <a:ext cx="1343918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AWS Lambda + Bedrock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227216" y="2382217"/>
            <a:ext cx="1343918" cy="11907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Stateless sanctions agent calling Claude Haiku 4.5 via Bedrock. Pay-per-invocation, scales to zero, key-free.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6138" y="1920106"/>
            <a:ext cx="422746" cy="4227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303889" y="1920106"/>
            <a:ext cx="1343992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KIRO IDE + AgentLevy MCP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303889" y="2382217"/>
            <a:ext cx="1343992" cy="181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Five verification tools in your IDE: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verify_cert + verify_hedera_anchor + verify_base_escrow + audit_cert_chain + emit_audit_cert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. The audit becomes a signed cert too.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0213"/>
            <a:ext cx="3385542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Verification Math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82154" y="1405310"/>
            <a:ext cx="7965728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Anyone holding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(buyer_pubkey, compliance_pubkey, sanctions_pubkey, 5 certs)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can independently verify — no vendor needs to still exist, no agent needs to still be active. The audit verifies in 2046 the same way it verifies today.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96119" y="1265783"/>
            <a:ext cx="14288" cy="680740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5" name="Text 3"/>
          <p:cNvSpPr/>
          <p:nvPr/>
        </p:nvSpPr>
        <p:spPr>
          <a:xfrm>
            <a:off x="496119" y="208604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282503"/>
            <a:ext cx="2634555" cy="14288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7" name="Text 5"/>
          <p:cNvSpPr/>
          <p:nvPr/>
        </p:nvSpPr>
        <p:spPr>
          <a:xfrm>
            <a:off x="496119" y="2373064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Signatures Valid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6119" y="2641327"/>
            <a:ext cx="2634555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Ed25519 verify against canonical bytes for every cert.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54648" y="208604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54648" y="2282503"/>
            <a:ext cx="2634630" cy="14288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11" name="Text 9"/>
          <p:cNvSpPr/>
          <p:nvPr/>
        </p:nvSpPr>
        <p:spPr>
          <a:xfrm>
            <a:off x="3254648" y="2373064"/>
            <a:ext cx="2091035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Content Addresses Resolve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54648" y="2641327"/>
            <a:ext cx="2634630" cy="396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Recompute SHA-256 over canonical bytes; match against the reference.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013252" y="2086049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03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13252" y="2282503"/>
            <a:ext cx="2634555" cy="14288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15" name="Text 13"/>
          <p:cNvSpPr/>
          <p:nvPr/>
        </p:nvSpPr>
        <p:spPr>
          <a:xfrm>
            <a:off x="6013252" y="2373064"/>
            <a:ext cx="1955378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Back-References Resolve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13252" y="2641327"/>
            <a:ext cx="2634555" cy="604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task_spec_address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input_addresses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subcontract_cert_addresses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all point at real, verifiable objects.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96119" y="34632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96119" y="3659684"/>
            <a:ext cx="4013820" cy="14288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19" name="Text 17"/>
          <p:cNvSpPr/>
          <p:nvPr/>
        </p:nvSpPr>
        <p:spPr>
          <a:xfrm>
            <a:off x="496119" y="37502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Hedera Witnessed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6119" y="4018508"/>
            <a:ext cx="4013820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Mirror Node REST returns the message body matching the cert's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content_address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+ consensus timestamp.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633913" y="3463230"/>
            <a:ext cx="248022" cy="1550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Fraunces Light" pitchFamily="34" charset="0"/>
                <a:ea typeface="Fraunces Light" pitchFamily="34" charset="-122"/>
                <a:cs typeface="Fraunces Light" pitchFamily="34" charset="-120"/>
              </a:rPr>
              <a:t>05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33913" y="3659684"/>
            <a:ext cx="4013895" cy="14288"/>
          </a:xfrm>
          <a:prstGeom prst="rect">
            <a:avLst/>
          </a:prstGeom>
          <a:solidFill>
            <a:srgbClr val="283A8C"/>
          </a:solidFill>
          <a:ln/>
        </p:spPr>
      </p:sp>
      <p:sp>
        <p:nvSpPr>
          <p:cNvPr id="23" name="Text 21"/>
          <p:cNvSpPr/>
          <p:nvPr/>
        </p:nvSpPr>
        <p:spPr>
          <a:xfrm>
            <a:off x="4633913" y="3750246"/>
            <a:ext cx="1550566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Escrow Released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633913" y="4018508"/>
            <a:ext cx="4013895" cy="4016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Base Sepolia tx history confirms 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highlight>
                  <a:srgbClr val="E9EAED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HashlockEscrow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funded with hashlock X and released after submission of cert X.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07578"/>
            <a:ext cx="6432054" cy="387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50"/>
              </a:lnSpc>
              <a:buNone/>
            </a:pPr>
            <a:r>
              <a:rPr lang="en-US" sz="24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Risk Mitigations: Smart Contracts + LLMs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143149"/>
            <a:ext cx="8151763" cy="198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two scariest failure modes in agent-driven onchain commerce are exactly the two we engineered away from.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06822" y="1481138"/>
            <a:ext cx="4103191" cy="2091333"/>
          </a:xfrm>
          <a:prstGeom prst="roundRect">
            <a:avLst>
              <a:gd name="adj" fmla="val 4271"/>
            </a:avLst>
          </a:prstGeom>
          <a:solidFill>
            <a:srgbClr val="283A8C"/>
          </a:solidFill>
          <a:ln/>
        </p:spPr>
      </p:sp>
      <p:sp>
        <p:nvSpPr>
          <p:cNvPr id="5" name="Text 3"/>
          <p:cNvSpPr/>
          <p:nvPr/>
        </p:nvSpPr>
        <p:spPr>
          <a:xfrm>
            <a:off x="530796" y="1605111"/>
            <a:ext cx="3117800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Smart-Contract Risk → Minimal Surface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30796" y="1922934"/>
            <a:ext cx="3855244" cy="9970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FFFF"/>
                </a:solidFill>
                <a:highlight>
                  <a:srgbClr val="354799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HashlockEscrow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is ~100 lines of Solidity — one conditional release rule. No oracle, no time-dependent branches, no external calls beyond ERC-20 USDC transfer. Auditable in a single afternoon. Hashlock pre-commitment means the buyer locks in the expected cryptographic outcome at funding.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728046" y="1605111"/>
            <a:ext cx="3036317" cy="1938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LLM Risk → Bounded + Schema-Locked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28046" y="1922934"/>
            <a:ext cx="3924598" cy="16061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4-turn hard cap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buyer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↔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compliance negotiation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Schema-validated outputs only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via Anthropic tool use (Pydantic)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Temperature = 0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by default for determinism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Fixture cache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for stage demos — byte-identical replay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Wrong-keypair rejection</a:t>
            </a:r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at sign time</a:t>
            </a:r>
            <a:endParaRPr lang="en-US" sz="950" dirty="0"/>
          </a:p>
          <a:p>
            <a:pPr algn="l" marL="342900" indent="-342900">
              <a:lnSpc>
                <a:spcPts val="1550"/>
              </a:lnSpc>
              <a:buSzPct val="100000"/>
              <a:buChar char="•"/>
            </a:pPr>
            <a:r>
              <a:rPr lang="en-US" sz="9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128 tests across primitives + HCS + LLM stack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96119" y="3711997"/>
            <a:ext cx="8151763" cy="923925"/>
          </a:xfrm>
          <a:prstGeom prst="roundRect">
            <a:avLst>
              <a:gd name="adj" fmla="val 5639"/>
            </a:avLst>
          </a:prstGeom>
          <a:solidFill>
            <a:srgbClr val="FCF2B5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0092" y="3896544"/>
            <a:ext cx="155004" cy="12397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9071" y="3866927"/>
            <a:ext cx="7624837" cy="5953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Honest acknowledgment:</a:t>
            </a:r>
            <a:pPr algn="l" indent="0" marL="0">
              <a:lnSpc>
                <a:spcPts val="155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LLMs can still fabricate data within the schema. The cert chain proves the work happened, not that inputs were correctly interpreted. The Solidity escrow has no production audit yet — pilots will go through a top-tier security firm before any mainnet deployment.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029" y="268412"/>
            <a:ext cx="4142929" cy="16571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33029" y="2017514"/>
            <a:ext cx="5708005" cy="272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Standards-Aligned, Open Protocol → Kessai Product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1133029" y="2443311"/>
            <a:ext cx="172179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The Standards We Co-Authored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1133029" y="2640881"/>
            <a:ext cx="3332559" cy="7554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VTEAI</a:t>
            </a:r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Verified Task Escrow + Attestation Interface. ERC draft, CC0, April 2026. AgentLevy is the first reference implementation.</a:t>
            </a:r>
            <a:endParaRPr lang="en-US" sz="6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UOR-ADDR-1 — Universal Object Reference Address. Officially adopted by UOR Foundation, May 2026. Co-authored standard; chain-agnostic content addressing for agent commerce.</a:t>
            </a:r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/>
            </a:r>
            <a:endParaRPr lang="en-US" sz="6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PRISM</a:t>
            </a:r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UOR Foundation's algebraic ring-coordinate system. MIT-licensed, vendored. One address, four representations.</a:t>
            </a:r>
            <a:endParaRPr lang="en-US" sz="650" dirty="0"/>
          </a:p>
        </p:txBody>
      </p:sp>
      <p:sp>
        <p:nvSpPr>
          <p:cNvPr id="6" name="Shape 3"/>
          <p:cNvSpPr/>
          <p:nvPr/>
        </p:nvSpPr>
        <p:spPr>
          <a:xfrm>
            <a:off x="1133029" y="3465314"/>
            <a:ext cx="3332559" cy="419398"/>
          </a:xfrm>
          <a:prstGeom prst="roundRect">
            <a:avLst>
              <a:gd name="adj" fmla="val 8735"/>
            </a:avLst>
          </a:prstGeom>
          <a:solidFill>
            <a:srgbClr val="B6FCB8"/>
          </a:solidFill>
          <a:ln/>
        </p:spPr>
        <p:txBody>
          <a:bodyPr/>
          <a:p/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0242" y="3583707"/>
            <a:ext cx="109017" cy="87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416472" y="3548435"/>
            <a:ext cx="2961903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Content addresses are </a:t>
            </a:r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byte-identical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to UOR Foundation's canonical reference — live cross-checked May 3, 2026.</a:t>
            </a:r>
            <a:endParaRPr lang="en-US" sz="650" dirty="0"/>
          </a:p>
        </p:txBody>
      </p:sp>
      <p:sp>
        <p:nvSpPr>
          <p:cNvPr id="9" name="Text 5"/>
          <p:cNvSpPr/>
          <p:nvPr/>
        </p:nvSpPr>
        <p:spPr>
          <a:xfrm>
            <a:off x="4683026" y="2443311"/>
            <a:ext cx="1127447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Roadmap Highlights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4683026" y="2640881"/>
            <a:ext cx="3332559" cy="895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XRPL sibling implementation (XLS-100 SmartEscrow + RLUSD) — same protocol, new adapter</a:t>
            </a:r>
            <a:endParaRPr lang="en-US" sz="6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AgentCore Memory upgrade for stateful fraud detection agents</a:t>
            </a:r>
            <a:endParaRPr lang="en-US" sz="6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Enterprise pilots: mid-market banks, KYC vendors, M&amp;A escrow, healthcare, legal e-discovery</a:t>
            </a:r>
            <a:endParaRPr lang="en-US" sz="650" dirty="0"/>
          </a:p>
          <a:p>
            <a:pPr algn="l" marL="342900" indent="-342900">
              <a:lnSpc>
                <a:spcPts val="900"/>
              </a:lnSpc>
              <a:buSzPct val="100000"/>
              <a:buChar char="•"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dNFT + SmartEscrow: AI model pay-per-inference with cryptographic enforcement</a:t>
            </a:r>
            <a:endParaRPr lang="en-US" sz="650" dirty="0"/>
          </a:p>
        </p:txBody>
      </p:sp>
      <p:sp>
        <p:nvSpPr>
          <p:cNvPr id="11" name="Text 7"/>
          <p:cNvSpPr/>
          <p:nvPr/>
        </p:nvSpPr>
        <p:spPr>
          <a:xfrm>
            <a:off x="4683026" y="3597846"/>
            <a:ext cx="1093143" cy="136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B0223A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AgentLevy → Kessai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4683026" y="3795415"/>
            <a:ext cx="3332559" cy="356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open-source protocol is AgentLevy. The commercial layer is </a:t>
            </a:r>
            <a:pPr algn="l" indent="0" marL="0">
              <a:lnSpc>
                <a:spcPts val="9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Kessai</a:t>
            </a:r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— enterprise SaaS, visualizer UI, regulatory-evidence packs, channel licensing. Same protocol, productized.</a:t>
            </a:r>
            <a:endParaRPr lang="en-US" sz="650" dirty="0"/>
          </a:p>
        </p:txBody>
      </p:sp>
      <p:sp>
        <p:nvSpPr>
          <p:cNvPr id="13" name="Shape 9"/>
          <p:cNvSpPr/>
          <p:nvPr/>
        </p:nvSpPr>
        <p:spPr>
          <a:xfrm>
            <a:off x="1133029" y="4275832"/>
            <a:ext cx="2251695" cy="599256"/>
          </a:xfrm>
          <a:prstGeom prst="roundRect">
            <a:avLst>
              <a:gd name="adj" fmla="val 6113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  <p:txBody>
          <a:bodyPr/>
          <a:p/>
        </p:txBody>
      </p:sp>
      <p:sp>
        <p:nvSpPr>
          <p:cNvPr id="14" name="Text 10"/>
          <p:cNvSpPr/>
          <p:nvPr/>
        </p:nvSpPr>
        <p:spPr>
          <a:xfrm>
            <a:off x="1225004" y="4367808"/>
            <a:ext cx="1090240" cy="14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📦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 GitHub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1225004" y="4545583"/>
            <a:ext cx="2067744" cy="1187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github.com/maurathat/AgentLevy-Base-UOR</a:t>
            </a:r>
            <a:endParaRPr lang="en-US" sz="650" dirty="0"/>
          </a:p>
        </p:txBody>
      </p:sp>
      <p:sp>
        <p:nvSpPr>
          <p:cNvPr id="16" name="Shape 12"/>
          <p:cNvSpPr/>
          <p:nvPr/>
        </p:nvSpPr>
        <p:spPr>
          <a:xfrm>
            <a:off x="3446041" y="4275832"/>
            <a:ext cx="2251770" cy="599256"/>
          </a:xfrm>
          <a:prstGeom prst="roundRect">
            <a:avLst>
              <a:gd name="adj" fmla="val 6113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538017" y="4367808"/>
            <a:ext cx="1090240" cy="14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🌐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 Standards</a:t>
            </a:r>
            <a:endParaRPr lang="en-US" sz="850" dirty="0"/>
          </a:p>
        </p:txBody>
      </p:sp>
      <p:sp>
        <p:nvSpPr>
          <p:cNvPr id="18" name="Text 14"/>
          <p:cNvSpPr/>
          <p:nvPr/>
        </p:nvSpPr>
        <p:spPr>
          <a:xfrm>
            <a:off x="3538017" y="4545583"/>
            <a:ext cx="2067818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VTEAI ERC draft + UOR-ADDR-1 (UOR Foundation, adopted May 2026)</a:t>
            </a:r>
            <a:endParaRPr lang="en-US" sz="650" dirty="0"/>
          </a:p>
        </p:txBody>
      </p:sp>
      <p:sp>
        <p:nvSpPr>
          <p:cNvPr id="19" name="Shape 15"/>
          <p:cNvSpPr/>
          <p:nvPr/>
        </p:nvSpPr>
        <p:spPr>
          <a:xfrm>
            <a:off x="5759128" y="4275832"/>
            <a:ext cx="2251770" cy="599256"/>
          </a:xfrm>
          <a:prstGeom prst="roundRect">
            <a:avLst>
              <a:gd name="adj" fmla="val 6113"/>
            </a:avLst>
          </a:prstGeom>
          <a:solidFill>
            <a:srgbClr val="E4E6EE"/>
          </a:solidFill>
          <a:ln w="4763">
            <a:solidFill>
              <a:srgbClr val="CACCD4"/>
            </a:solidFill>
            <a:prstDash val="solid"/>
          </a:ln>
        </p:spPr>
        <p:txBody>
          <a:bodyPr/>
          <a:p/>
        </p:txBody>
      </p:sp>
      <p:sp>
        <p:nvSpPr>
          <p:cNvPr id="20" name="Text 16"/>
          <p:cNvSpPr/>
          <p:nvPr/>
        </p:nvSpPr>
        <p:spPr>
          <a:xfrm>
            <a:off x="5851103" y="4367808"/>
            <a:ext cx="1090240" cy="141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🤝</a:t>
            </a:r>
            <a:pPr algn="l" indent="0" marL="0">
              <a:lnSpc>
                <a:spcPts val="105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Fraunces Bold" pitchFamily="34" charset="0"/>
                <a:ea typeface="Fraunces Bold" pitchFamily="34" charset="-122"/>
                <a:cs typeface="Fraunces Bold" pitchFamily="34" charset="-120"/>
              </a:rPr>
              <a:t> Hiring</a:t>
            </a:r>
            <a:endParaRPr lang="en-US" sz="850" dirty="0"/>
          </a:p>
        </p:txBody>
      </p:sp>
      <p:sp>
        <p:nvSpPr>
          <p:cNvPr id="21" name="Text 17"/>
          <p:cNvSpPr/>
          <p:nvPr/>
        </p:nvSpPr>
        <p:spPr>
          <a:xfrm>
            <a:off x="5851103" y="4545583"/>
            <a:ext cx="2067818" cy="237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2 senior engineers — Python SDK + multi-chain settlement (pre-seed open)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2026-05-06T18:00:49Z</dcterms:created>
  <dcterms:modified xsi:type="dcterms:W3CDTF">2026-05-06T18:00:49Z</dcterms:modified>
</cp:coreProperties>
</file>